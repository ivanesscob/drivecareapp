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11"/>
  </p:notesMasterIdLst>
  <p:sldIdLst>
    <p:sldId id="256" r:id="rId2"/>
    <p:sldId id="261" r:id="rId3"/>
    <p:sldId id="257" r:id="rId4"/>
    <p:sldId id="258" r:id="rId5"/>
    <p:sldId id="265" r:id="rId6"/>
    <p:sldId id="264" r:id="rId7"/>
    <p:sldId id="263" r:id="rId8"/>
    <p:sldId id="262" r:id="rId9"/>
    <p:sldId id="260" r:id="rId10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3" d="100"/>
          <a:sy n="153" d="100"/>
        </p:scale>
        <p:origin x="576" y="180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9CCBAB-DE13-409D-963B-4E17794344C4}" type="datetimeFigureOut">
              <a:rPr lang="ru-RU" smtClean="0"/>
              <a:t>22.06.2026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B23EC3-A7AD-4CF2-B5C2-B6477F6912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72271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C1DA8CA7-6B06-4EDB-9D2C-EA1DF633AFCC}" type="datetime1">
              <a:rPr lang="en-US" smtClean="0"/>
              <a:t>6/22/2026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57F1E4F-1CFF-5643-939E-217C01CDF56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1E422F1-E30A-401F-87D5-F59C38AC313D}" type="datetime1">
              <a:rPr lang="en-US" smtClean="0"/>
              <a:t>6/22/2026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57F1E4F-1CFF-5643-939E-217C01CDF56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9BF96C5-2919-41D9-A07A-FBDC2BAA99D6}" type="datetime1">
              <a:rPr lang="en-US" smtClean="0"/>
              <a:t>6/22/2026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57F1E4F-1CFF-5643-939E-217C01CDF56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BC24BAA-FEF3-4EEA-B886-B7D72EFE7120}" type="datetime1">
              <a:rPr lang="en-US" smtClean="0"/>
              <a:t>6/22/2026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57F1E4F-1CFF-5643-939E-217C01CDF56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D75F720-5563-4DCF-9BBE-17783D8FC72D}" type="datetime1">
              <a:rPr lang="en-US" smtClean="0"/>
              <a:t>6/22/2026</a:t>
            </a:fld>
            <a:endParaRPr lang="en-US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57F1E4F-1CFF-5643-939E-217C01CDF56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B79D20E-0852-47EE-B52C-BE34469C909C}" type="datetime1">
              <a:rPr lang="en-US" smtClean="0"/>
              <a:t>6/22/2026</a:t>
            </a:fld>
            <a:endParaRPr lang="en-US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57F1E4F-1CFF-5643-939E-217C01CDF56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C4A8803A-4F35-47CA-A59A-FCDBB2B2BE91}" type="datetime1">
              <a:rPr lang="en-US" smtClean="0"/>
              <a:t>6/22/2026</a:t>
            </a:fld>
            <a:endParaRPr lang="en-US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57F1E4F-1CFF-5643-939E-217C01CDF56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42294A5-EFA7-42D5-AD24-B350863219F6}" type="datetime1">
              <a:rPr lang="en-US" smtClean="0"/>
              <a:t>6/22/2026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57F1E4F-1CFF-5643-939E-217C01CDF56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Вставка рисунка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4CAF474-E85F-40E9-B676-E3F493A3CDC0}" type="datetime1">
              <a:rPr lang="en-US" smtClean="0"/>
              <a:t>6/22/2026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57F1E4F-1CFF-5643-939E-217C01CDF56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CAA79793-1899-4B8B-AD82-DBEE28322A39}" type="datetime1">
              <a:rPr lang="en-US" smtClean="0"/>
              <a:t>6/22/2026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57F1E4F-1CFF-5643-939E-217C01CDF56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E428FA3-771E-4594-8D0E-0E738D52A0A6}" type="datetime1">
              <a:rPr lang="en-US" smtClean="0"/>
              <a:t>6/22/2026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57F1E4F-1CFF-5643-939E-217C01CDF56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9C1D3A8-30D1-4863-B28E-AFA8270EBE5F}" type="datetime1">
              <a:rPr lang="en-US" smtClean="0"/>
              <a:t>6/22/2026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D57F1E4F-1CFF-5643-939E-217C01CDF56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2032212" y="2342149"/>
            <a:ext cx="9144000" cy="1324547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compatLnSpc="0">
            <a:normAutofit fontScale="90000"/>
          </a:bodyPr>
          <a:lstStyle/>
          <a:p>
            <a:pPr>
              <a:defRPr/>
            </a:pPr>
            <a:r>
              <a:rPr lang="ru-RU" sz="2800" dirty="0">
                <a:solidFill>
                  <a:schemeClr val="bg1"/>
                </a:solidFill>
                <a:latin typeface="Verdana"/>
                <a:ea typeface="Verdana"/>
                <a:cs typeface="Times New Roman"/>
              </a:rPr>
              <a:t>Дипломный проект</a:t>
            </a:r>
            <a:br>
              <a:rPr lang="ru-RU" sz="2800" dirty="0">
                <a:solidFill>
                  <a:schemeClr val="bg1"/>
                </a:solidFill>
                <a:latin typeface="Verdana"/>
                <a:ea typeface="Verdana"/>
                <a:cs typeface="Times New Roman"/>
              </a:rPr>
            </a:br>
            <a:r>
              <a:rPr lang="ru-RU" sz="2800" b="1" dirty="0">
                <a:solidFill>
                  <a:schemeClr val="bg1"/>
                </a:solidFill>
                <a:latin typeface="Verdana"/>
                <a:ea typeface="Verdana"/>
                <a:cs typeface="Times New Roman"/>
              </a:rPr>
              <a:t>РАЗРАБОТКА ПРИЛОЖЕНИЯ ДЛЯ УЧЕТА СЕРВИСНОГО ОБСЛУЖИВАНИЯ АВТОМОБИЛЕЙ</a:t>
            </a:r>
            <a:endParaRPr lang="ru-RU"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6422425" y="5429217"/>
            <a:ext cx="5753099" cy="138269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algn="l">
              <a:defRPr/>
            </a:pPr>
            <a:r>
              <a:rPr lang="ru-RU" dirty="0">
                <a:solidFill>
                  <a:schemeClr val="bg1"/>
                </a:solidFill>
              </a:rPr>
              <a:t>Выполнил: Белоглазов И. А.</a:t>
            </a:r>
          </a:p>
          <a:p>
            <a:pPr algn="l">
              <a:defRPr/>
            </a:pPr>
            <a:r>
              <a:rPr lang="ru-RU" dirty="0">
                <a:solidFill>
                  <a:schemeClr val="bg1"/>
                </a:solidFill>
                <a:latin typeface="Verdana"/>
                <a:ea typeface="Verdana"/>
              </a:rPr>
              <a:t>Руководитель: Спиридонова Т. С.</a:t>
            </a:r>
          </a:p>
          <a:p>
            <a:pPr algn="l">
              <a:defRPr/>
            </a:pPr>
            <a:endParaRPr lang="ru-RU" dirty="0">
              <a:solidFill>
                <a:schemeClr val="bg1"/>
              </a:solidFill>
            </a:endParaRP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067487"/>
              </p:ext>
            </p:extLst>
          </p:nvPr>
        </p:nvGraphicFramePr>
        <p:xfrm>
          <a:off x="3160077" y="104236"/>
          <a:ext cx="5871845" cy="18531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871845">
                  <a:extLst>
                    <a:ext uri="{9D8B030D-6E8A-4147-A177-3AD203B41FA5}">
                      <a16:colId xmlns:a16="http://schemas.microsoft.com/office/drawing/2014/main" val="571936935"/>
                    </a:ext>
                  </a:extLst>
                </a:gridCol>
              </a:tblGrid>
              <a:tr h="121793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ru-RU" sz="1200" b="0" kern="16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ПРАВИТЕЛЬСТВО САНКТ-ПЕТЕРБУРГА</a:t>
                      </a:r>
                      <a:endParaRPr lang="ru-RU" sz="1200" b="1" kern="1600" dirty="0"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ru-RU" sz="1200" b="0" kern="16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КОМИТЕТ ПО НАУКЕ И ВЫСШЕЙ ШКОЛЕ</a:t>
                      </a:r>
                      <a:br>
                        <a:rPr lang="ru-RU" sz="1200" b="0" kern="16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ru-RU" sz="1200" b="0" kern="16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Санкт-Петербургское государственное бюджетное профессиональное образовательное учреждение</a:t>
                      </a:r>
                      <a:endParaRPr lang="ru-RU" sz="1200" b="1" kern="1600" dirty="0"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ru-RU" sz="1200" b="0" kern="16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«ПЕТРОВСКИЙ КОЛЛЕДЖ»</a:t>
                      </a:r>
                      <a:endParaRPr lang="ru-RU" sz="1200" b="1" kern="1600" dirty="0"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2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(СПб ГБПОУ «Петровский колледж»)</a:t>
                      </a: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548206"/>
                  </a:ext>
                </a:extLst>
              </a:tr>
              <a:tr h="3784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2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Отделение информационных технологий</a:t>
                      </a:r>
                      <a:br>
                        <a:rPr lang="ru-RU" sz="12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endParaRPr lang="ru-RU" sz="1200" dirty="0"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078464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4AFFA5E0-82CB-FAA3-9467-49ABF314A322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79F62A3-3C2E-F8C8-7089-C7FF2E95A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59957" y="6492875"/>
            <a:ext cx="2743200" cy="365125"/>
          </a:xfrm>
        </p:spPr>
        <p:txBody>
          <a:bodyPr/>
          <a:lstStyle/>
          <a:p>
            <a:pPr>
              <a:defRPr/>
            </a:pPr>
            <a:fld id="{D57F1E4F-1CFF-5643-939E-217C01CDF565}" type="slidenum">
              <a:rPr lang="en-US" smtClean="0">
                <a:solidFill>
                  <a:schemeClr val="bg1"/>
                </a:solidFill>
              </a:rPr>
              <a:t>2</a:t>
            </a:fld>
            <a:endParaRPr lang="en-US">
              <a:solidFill>
                <a:schemeClr val="bg1"/>
              </a:solidFill>
            </a:endParaRP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E9979CC1-5624-89BF-32E6-489DC9FCC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6777" y="-236237"/>
            <a:ext cx="10515600" cy="1325563"/>
          </a:xfrm>
        </p:spPr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Цель и задачи</a:t>
            </a:r>
          </a:p>
        </p:txBody>
      </p:sp>
      <p:sp>
        <p:nvSpPr>
          <p:cNvPr id="2" name="Овал 1">
            <a:extLst>
              <a:ext uri="{FF2B5EF4-FFF2-40B4-BE49-F238E27FC236}">
                <a16:creationId xmlns:a16="http://schemas.microsoft.com/office/drawing/2014/main" id="{5688209A-268D-E694-7D9B-CC5DA8204B29}"/>
              </a:ext>
            </a:extLst>
          </p:cNvPr>
          <p:cNvSpPr/>
          <p:nvPr/>
        </p:nvSpPr>
        <p:spPr>
          <a:xfrm>
            <a:off x="650790" y="3616411"/>
            <a:ext cx="1812324" cy="1779374"/>
          </a:xfrm>
          <a:prstGeom prst="ellipse">
            <a:avLst/>
          </a:prstGeom>
          <a:noFill/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Стрелка: вправо 2">
            <a:extLst>
              <a:ext uri="{FF2B5EF4-FFF2-40B4-BE49-F238E27FC236}">
                <a16:creationId xmlns:a16="http://schemas.microsoft.com/office/drawing/2014/main" id="{560F4D9B-7C6C-22A8-4BAE-F235C57C2D93}"/>
              </a:ext>
            </a:extLst>
          </p:cNvPr>
          <p:cNvSpPr/>
          <p:nvPr/>
        </p:nvSpPr>
        <p:spPr>
          <a:xfrm>
            <a:off x="2561967" y="3962400"/>
            <a:ext cx="230660" cy="1087396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65C808-3165-7B49-F629-A9DD711A1625}"/>
              </a:ext>
            </a:extLst>
          </p:cNvPr>
          <p:cNvSpPr txBox="1"/>
          <p:nvPr/>
        </p:nvSpPr>
        <p:spPr>
          <a:xfrm>
            <a:off x="778476" y="4049137"/>
            <a:ext cx="155695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Verdana" panose="020B0604030504040204" pitchFamily="34" charset="0"/>
                <a:ea typeface="Verdana" panose="020B0604030504040204" pitchFamily="34" charset="0"/>
              </a:rPr>
              <a:t>Провести анализ предметной области</a:t>
            </a: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B6527913-C12E-A9F3-66BD-5231D5915977}"/>
              </a:ext>
            </a:extLst>
          </p:cNvPr>
          <p:cNvSpPr/>
          <p:nvPr/>
        </p:nvSpPr>
        <p:spPr>
          <a:xfrm>
            <a:off x="2891480" y="3606233"/>
            <a:ext cx="1812324" cy="1779374"/>
          </a:xfrm>
          <a:prstGeom prst="ellipse">
            <a:avLst/>
          </a:prstGeom>
          <a:noFill/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Стрелка: вправо 8">
            <a:extLst>
              <a:ext uri="{FF2B5EF4-FFF2-40B4-BE49-F238E27FC236}">
                <a16:creationId xmlns:a16="http://schemas.microsoft.com/office/drawing/2014/main" id="{860EDB41-98F8-48A2-0076-9EF31714D0DF}"/>
              </a:ext>
            </a:extLst>
          </p:cNvPr>
          <p:cNvSpPr/>
          <p:nvPr/>
        </p:nvSpPr>
        <p:spPr>
          <a:xfrm>
            <a:off x="4802657" y="3952222"/>
            <a:ext cx="230660" cy="1087396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BA96B3-4EA4-EFCC-D698-5120953A0152}"/>
              </a:ext>
            </a:extLst>
          </p:cNvPr>
          <p:cNvSpPr txBox="1"/>
          <p:nvPr/>
        </p:nvSpPr>
        <p:spPr>
          <a:xfrm>
            <a:off x="2969740" y="4038959"/>
            <a:ext cx="165580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Verdana" panose="020B0604030504040204" pitchFamily="34" charset="0"/>
                <a:ea typeface="Verdana" panose="020B0604030504040204" pitchFamily="34" charset="0"/>
              </a:rPr>
              <a:t>выполнить анализ существующих аналогов</a:t>
            </a: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FADAB728-538C-4912-5090-8DE7F6A8DBB3}"/>
              </a:ext>
            </a:extLst>
          </p:cNvPr>
          <p:cNvSpPr/>
          <p:nvPr/>
        </p:nvSpPr>
        <p:spPr>
          <a:xfrm>
            <a:off x="5132170" y="3596055"/>
            <a:ext cx="1812324" cy="1779374"/>
          </a:xfrm>
          <a:prstGeom prst="ellipse">
            <a:avLst/>
          </a:prstGeom>
          <a:noFill/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Стрелка: вправо 11">
            <a:extLst>
              <a:ext uri="{FF2B5EF4-FFF2-40B4-BE49-F238E27FC236}">
                <a16:creationId xmlns:a16="http://schemas.microsoft.com/office/drawing/2014/main" id="{EAB2290F-48EC-9291-9AB6-768D4174FE94}"/>
              </a:ext>
            </a:extLst>
          </p:cNvPr>
          <p:cNvSpPr/>
          <p:nvPr/>
        </p:nvSpPr>
        <p:spPr>
          <a:xfrm>
            <a:off x="7043347" y="3942044"/>
            <a:ext cx="230660" cy="1087396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D828E6-7387-FA14-E153-E1E563710A2D}"/>
              </a:ext>
            </a:extLst>
          </p:cNvPr>
          <p:cNvSpPr txBox="1"/>
          <p:nvPr/>
        </p:nvSpPr>
        <p:spPr>
          <a:xfrm>
            <a:off x="5161003" y="4059794"/>
            <a:ext cx="181232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Verdana" panose="020B0604030504040204" pitchFamily="34" charset="0"/>
                <a:ea typeface="Verdana" panose="020B0604030504040204" pitchFamily="34" charset="0"/>
              </a:rPr>
              <a:t>сформировать требования к информационной системе</a:t>
            </a:r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99B0F35A-3EAE-2222-2D38-6DEEABC63524}"/>
              </a:ext>
            </a:extLst>
          </p:cNvPr>
          <p:cNvSpPr/>
          <p:nvPr/>
        </p:nvSpPr>
        <p:spPr>
          <a:xfrm>
            <a:off x="7372860" y="3585877"/>
            <a:ext cx="1812324" cy="1779374"/>
          </a:xfrm>
          <a:prstGeom prst="ellipse">
            <a:avLst/>
          </a:prstGeom>
          <a:noFill/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Стрелка: вправо 14">
            <a:extLst>
              <a:ext uri="{FF2B5EF4-FFF2-40B4-BE49-F238E27FC236}">
                <a16:creationId xmlns:a16="http://schemas.microsoft.com/office/drawing/2014/main" id="{FC01B4C7-A5D3-A05B-ABCC-7076D5BEDCB7}"/>
              </a:ext>
            </a:extLst>
          </p:cNvPr>
          <p:cNvSpPr/>
          <p:nvPr/>
        </p:nvSpPr>
        <p:spPr>
          <a:xfrm>
            <a:off x="9284037" y="3931866"/>
            <a:ext cx="230660" cy="1087396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EABDC7-552D-AE5F-6471-21C6B7D7CBD5}"/>
              </a:ext>
            </a:extLst>
          </p:cNvPr>
          <p:cNvSpPr txBox="1"/>
          <p:nvPr/>
        </p:nvSpPr>
        <p:spPr>
          <a:xfrm>
            <a:off x="7451120" y="4116410"/>
            <a:ext cx="16558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Verdana" panose="020B0604030504040204" pitchFamily="34" charset="0"/>
                <a:ea typeface="Verdana" panose="020B0604030504040204" pitchFamily="34" charset="0"/>
              </a:rPr>
              <a:t>спроектировать программное обеспечение </a:t>
            </a:r>
            <a:r>
              <a:rPr lang="ru-RU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ис</a:t>
            </a:r>
            <a:endParaRPr lang="ru-RU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4F99C584-FE48-1055-EAAE-C1E709610A20}"/>
              </a:ext>
            </a:extLst>
          </p:cNvPr>
          <p:cNvSpPr/>
          <p:nvPr/>
        </p:nvSpPr>
        <p:spPr>
          <a:xfrm>
            <a:off x="9613550" y="3575699"/>
            <a:ext cx="1812324" cy="1779374"/>
          </a:xfrm>
          <a:prstGeom prst="ellipse">
            <a:avLst/>
          </a:prstGeom>
          <a:noFill/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3EA9D64-DE6B-4BE4-C458-53EF7C061A9A}"/>
              </a:ext>
            </a:extLst>
          </p:cNvPr>
          <p:cNvSpPr txBox="1"/>
          <p:nvPr/>
        </p:nvSpPr>
        <p:spPr>
          <a:xfrm>
            <a:off x="9741236" y="4029044"/>
            <a:ext cx="155695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Verdana" panose="020B0604030504040204" pitchFamily="34" charset="0"/>
                <a:ea typeface="Verdana" panose="020B0604030504040204" pitchFamily="34" charset="0"/>
              </a:rPr>
              <a:t>Реализовать  программное обеспечение </a:t>
            </a:r>
            <a:r>
              <a:rPr lang="ru-RU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ис</a:t>
            </a:r>
            <a:endParaRPr lang="ru-RU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3AD1C9-9B09-B109-CC23-8F2F9C119AF2}"/>
              </a:ext>
            </a:extLst>
          </p:cNvPr>
          <p:cNvSpPr txBox="1"/>
          <p:nvPr/>
        </p:nvSpPr>
        <p:spPr>
          <a:xfrm>
            <a:off x="838443" y="1230620"/>
            <a:ext cx="620490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Цель:</a:t>
            </a:r>
          </a:p>
          <a:p>
            <a:pPr algn="just"/>
            <a:r>
              <a:rPr lang="ru-RU" dirty="0"/>
              <a:t>Разработка информационной системы для автоматизации деятельности автосервисов, обеспечивающей учет автомобилей и клиентов, управление ремонтными работами, запись на обслуживание, продажу автомобилей и запчастей, а также взаимодействие между клиентами и автосервисами.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52219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9259957" y="6492875"/>
            <a:ext cx="2743200" cy="365125"/>
          </a:xfrm>
        </p:spPr>
        <p:txBody>
          <a:bodyPr/>
          <a:lstStyle/>
          <a:p>
            <a:pPr>
              <a:defRPr/>
            </a:pPr>
            <a:fld id="{D57F1E4F-1CFF-5643-939E-217C01CDF565}" type="slidenum">
              <a:rPr lang="en-US" smtClean="0">
                <a:solidFill>
                  <a:schemeClr val="bg1"/>
                </a:solidFill>
              </a:rPr>
              <a:t>3</a:t>
            </a:fld>
            <a:endParaRPr lang="en-US">
              <a:solidFill>
                <a:schemeClr val="bg1"/>
              </a:solidFill>
            </a:endParaRP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E0173FFA-6A47-6C4F-2FCA-70846A5E23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6777" y="-236237"/>
            <a:ext cx="10515600" cy="1325563"/>
          </a:xfrm>
        </p:spPr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Аналоги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52825E37-B396-46EF-E937-9144443356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6017312"/>
              </p:ext>
            </p:extLst>
          </p:nvPr>
        </p:nvGraphicFramePr>
        <p:xfrm>
          <a:off x="891745" y="1183218"/>
          <a:ext cx="10725664" cy="4947192"/>
        </p:xfrm>
        <a:graphic>
          <a:graphicData uri="http://schemas.openxmlformats.org/drawingml/2006/table">
            <a:tbl>
              <a:tblPr/>
              <a:tblGrid>
                <a:gridCol w="2681416">
                  <a:extLst>
                    <a:ext uri="{9D8B030D-6E8A-4147-A177-3AD203B41FA5}">
                      <a16:colId xmlns:a16="http://schemas.microsoft.com/office/drawing/2014/main" val="1329343092"/>
                    </a:ext>
                  </a:extLst>
                </a:gridCol>
                <a:gridCol w="2681416">
                  <a:extLst>
                    <a:ext uri="{9D8B030D-6E8A-4147-A177-3AD203B41FA5}">
                      <a16:colId xmlns:a16="http://schemas.microsoft.com/office/drawing/2014/main" val="1196675930"/>
                    </a:ext>
                  </a:extLst>
                </a:gridCol>
                <a:gridCol w="2681416">
                  <a:extLst>
                    <a:ext uri="{9D8B030D-6E8A-4147-A177-3AD203B41FA5}">
                      <a16:colId xmlns:a16="http://schemas.microsoft.com/office/drawing/2014/main" val="2227152946"/>
                    </a:ext>
                  </a:extLst>
                </a:gridCol>
                <a:gridCol w="2681416">
                  <a:extLst>
                    <a:ext uri="{9D8B030D-6E8A-4147-A177-3AD203B41FA5}">
                      <a16:colId xmlns:a16="http://schemas.microsoft.com/office/drawing/2014/main" val="2049701087"/>
                    </a:ext>
                  </a:extLst>
                </a:gridCol>
              </a:tblGrid>
              <a:tr h="23520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/>
                        <a:t>Критерий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dirty="0" err="1"/>
                        <a:t>АвтоДилер</a:t>
                      </a:r>
                      <a:endParaRPr lang="ru-RU" sz="2400" dirty="0"/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dirty="0"/>
                        <a:t>1С:Автосервис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 err="1"/>
                        <a:t>DriveCare</a:t>
                      </a:r>
                      <a:endParaRPr lang="ru-RU" sz="2400" dirty="0"/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8899525"/>
                  </a:ext>
                </a:extLst>
              </a:tr>
              <a:tr h="23520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/>
                        <a:t>Учёт клиентов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>
                          <a:solidFill>
                            <a:schemeClr val="accent6"/>
                          </a:solidFill>
                        </a:rPr>
                        <a:t>✔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>
                          <a:solidFill>
                            <a:schemeClr val="accent6"/>
                          </a:solidFill>
                        </a:rPr>
                        <a:t>✔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>
                          <a:solidFill>
                            <a:schemeClr val="accent6"/>
                          </a:solidFill>
                        </a:rPr>
                        <a:t>✔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8346378"/>
                  </a:ext>
                </a:extLst>
              </a:tr>
              <a:tr h="23520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/>
                        <a:t>Учёт автомобилей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>
                          <a:solidFill>
                            <a:schemeClr val="accent6"/>
                          </a:solidFill>
                        </a:rPr>
                        <a:t>✔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>
                          <a:solidFill>
                            <a:schemeClr val="accent6"/>
                          </a:solidFill>
                        </a:rPr>
                        <a:t>✔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>
                          <a:solidFill>
                            <a:schemeClr val="accent6"/>
                          </a:solidFill>
                        </a:rPr>
                        <a:t>✔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9813215"/>
                  </a:ext>
                </a:extLst>
              </a:tr>
              <a:tr h="23520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/>
                        <a:t>История ремонтов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>
                          <a:solidFill>
                            <a:schemeClr val="accent6"/>
                          </a:solidFill>
                        </a:rPr>
                        <a:t>✔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>
                          <a:solidFill>
                            <a:schemeClr val="accent6"/>
                          </a:solidFill>
                        </a:rPr>
                        <a:t>✔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>
                          <a:solidFill>
                            <a:schemeClr val="accent6"/>
                          </a:solidFill>
                        </a:rPr>
                        <a:t>✔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9090774"/>
                  </a:ext>
                </a:extLst>
              </a:tr>
              <a:tr h="23520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/>
                        <a:t>Онлайн-запись в сервис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>
                          <a:solidFill>
                            <a:srgbClr val="FF0000"/>
                          </a:solidFill>
                        </a:rPr>
                        <a:t>✖ / ограниченно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>
                          <a:solidFill>
                            <a:schemeClr val="accent6"/>
                          </a:solidFill>
                        </a:rPr>
                        <a:t>✔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>
                          <a:solidFill>
                            <a:schemeClr val="accent6"/>
                          </a:solidFill>
                        </a:rPr>
                        <a:t>✔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7866029"/>
                  </a:ext>
                </a:extLst>
              </a:tr>
              <a:tr h="4116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/>
                        <a:t>Личный кабинет владельца автомобиля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>
                          <a:solidFill>
                            <a:srgbClr val="FF0000"/>
                          </a:solidFill>
                        </a:rPr>
                        <a:t>✖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>
                          <a:solidFill>
                            <a:srgbClr val="FF0000"/>
                          </a:solidFill>
                        </a:rPr>
                        <a:t>✖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>
                          <a:solidFill>
                            <a:schemeClr val="accent6"/>
                          </a:solidFill>
                        </a:rPr>
                        <a:t>✔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7147460"/>
                  </a:ext>
                </a:extLst>
              </a:tr>
              <a:tr h="4116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/>
                        <a:t>Отслеживание статуса ремонта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/>
                        <a:t>Частично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/>
                        <a:t>Частично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>
                          <a:solidFill>
                            <a:schemeClr val="accent6"/>
                          </a:solidFill>
                        </a:rPr>
                        <a:t>✔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5845645"/>
                  </a:ext>
                </a:extLst>
              </a:tr>
              <a:tr h="4116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/>
                        <a:t>Встроенный чат клиент-сервис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>
                          <a:solidFill>
                            <a:srgbClr val="FF0000"/>
                          </a:solidFill>
                        </a:rPr>
                        <a:t>✖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>
                          <a:solidFill>
                            <a:srgbClr val="FF0000"/>
                          </a:solidFill>
                        </a:rPr>
                        <a:t>✖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>
                          <a:solidFill>
                            <a:schemeClr val="accent6"/>
                          </a:solidFill>
                        </a:rPr>
                        <a:t>✔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7883792"/>
                  </a:ext>
                </a:extLst>
              </a:tr>
              <a:tr h="23520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/>
                        <a:t>Карта автосервисов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>
                          <a:solidFill>
                            <a:srgbClr val="FF0000"/>
                          </a:solidFill>
                        </a:rPr>
                        <a:t>✖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>
                          <a:solidFill>
                            <a:srgbClr val="FF0000"/>
                          </a:solidFill>
                        </a:rPr>
                        <a:t>✖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>
                          <a:solidFill>
                            <a:schemeClr val="accent6"/>
                          </a:solidFill>
                        </a:rPr>
                        <a:t>✔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0564905"/>
                  </a:ext>
                </a:extLst>
              </a:tr>
              <a:tr h="23520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/>
                        <a:t>Продажа автомобилей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>
                          <a:solidFill>
                            <a:srgbClr val="FF0000"/>
                          </a:solidFill>
                        </a:rPr>
                        <a:t>✖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>
                          <a:solidFill>
                            <a:srgbClr val="FF0000"/>
                          </a:solidFill>
                        </a:rPr>
                        <a:t>✖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>
                          <a:solidFill>
                            <a:schemeClr val="accent6"/>
                          </a:solidFill>
                        </a:rPr>
                        <a:t>✔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5835197"/>
                  </a:ext>
                </a:extLst>
              </a:tr>
              <a:tr h="4116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/>
                        <a:t>Интернет-магазин запчастей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>
                          <a:solidFill>
                            <a:srgbClr val="FF0000"/>
                          </a:solidFill>
                        </a:rPr>
                        <a:t>✖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/>
                        <a:t>Частично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>
                          <a:solidFill>
                            <a:schemeClr val="accent6"/>
                          </a:solidFill>
                        </a:rPr>
                        <a:t>✔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7151633"/>
                  </a:ext>
                </a:extLst>
              </a:tr>
              <a:tr h="4116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/>
                        <a:t>Система ролей и прав доступа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>
                          <a:solidFill>
                            <a:schemeClr val="accent6"/>
                          </a:solidFill>
                        </a:rPr>
                        <a:t>✔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>
                          <a:solidFill>
                            <a:schemeClr val="accent6"/>
                          </a:solidFill>
                        </a:rPr>
                        <a:t>✔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>
                          <a:solidFill>
                            <a:schemeClr val="accent6"/>
                          </a:solidFill>
                        </a:rPr>
                        <a:t>✔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1141236"/>
                  </a:ext>
                </a:extLst>
              </a:tr>
              <a:tr h="4116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/>
                        <a:t>Уведомления в реальном времени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>
                          <a:solidFill>
                            <a:srgbClr val="FF0000"/>
                          </a:solidFill>
                        </a:rPr>
                        <a:t>✖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/>
                        <a:t>Частично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>
                          <a:solidFill>
                            <a:schemeClr val="accent6"/>
                          </a:solidFill>
                        </a:rPr>
                        <a:t>✔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1026660"/>
                  </a:ext>
                </a:extLst>
              </a:tr>
              <a:tr h="23520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/>
                        <a:t>Стоимость лицензии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/>
                        <a:t>Платная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/>
                        <a:t>Платная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dirty="0"/>
                        <a:t>Собственная разработка</a:t>
                      </a:r>
                    </a:p>
                  </a:txBody>
                  <a:tcPr marL="58802" marR="58802" marT="29401" marB="2940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610044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 bwMode="auto">
          <a:xfrm>
            <a:off x="1028239" y="0"/>
            <a:ext cx="4300665" cy="867284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ru-RU" sz="2800" b="1" dirty="0">
                <a:solidFill>
                  <a:schemeClr val="bg1"/>
                </a:solidFill>
                <a:latin typeface="Verdana"/>
                <a:ea typeface="Verdana"/>
                <a:cs typeface="Times New Roman"/>
              </a:rPr>
              <a:t>Программные средства</a:t>
            </a:r>
            <a:endParaRPr lang="ru-RU" sz="2800" dirty="0">
              <a:solidFill>
                <a:schemeClr val="bg1"/>
              </a:solidFill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9259957" y="6492875"/>
            <a:ext cx="2743200" cy="365125"/>
          </a:xfrm>
        </p:spPr>
        <p:txBody>
          <a:bodyPr/>
          <a:lstStyle/>
          <a:p>
            <a:pPr>
              <a:defRPr/>
            </a:pPr>
            <a:fld id="{D57F1E4F-1CFF-5643-939E-217C01CDF565}" type="slidenum">
              <a:rPr lang="en-US" smtClean="0">
                <a:solidFill>
                  <a:schemeClr val="bg1"/>
                </a:solidFill>
              </a:rPr>
              <a:t>4</a:t>
            </a:fld>
            <a:endParaRPr lang="en-US">
              <a:solidFill>
                <a:schemeClr val="bg1"/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0CEE5C1-4615-06DE-69C0-8AEF4604FF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9890" y="3051774"/>
            <a:ext cx="2343566" cy="2343566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36F7C67-8149-904A-1337-77CDBF08BD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583" r="31589"/>
          <a:stretch>
            <a:fillRect/>
          </a:stretch>
        </p:blipFill>
        <p:spPr>
          <a:xfrm>
            <a:off x="8893843" y="2457145"/>
            <a:ext cx="972065" cy="1380706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C3009EAD-F4B9-B88D-705D-C4033BBE911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5741" r="17233"/>
          <a:stretch>
            <a:fillRect/>
          </a:stretch>
        </p:blipFill>
        <p:spPr>
          <a:xfrm>
            <a:off x="5792229" y="4361840"/>
            <a:ext cx="1341739" cy="1126009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5E45008-9E20-6499-8313-4758A4DBEC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87333" y="4223557"/>
            <a:ext cx="1069155" cy="1069155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D929D64B-CB5A-A2C2-4BBE-EADC06602A3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792229" y="2558754"/>
            <a:ext cx="1102841" cy="1102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66832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7030F456-7DFE-DCBC-975F-4C4A3ADF464B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0132270-C2BF-8741-98A0-1389A603A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59957" y="6492875"/>
            <a:ext cx="2743200" cy="365125"/>
          </a:xfrm>
        </p:spPr>
        <p:txBody>
          <a:bodyPr/>
          <a:lstStyle/>
          <a:p>
            <a:pPr>
              <a:defRPr/>
            </a:pPr>
            <a:fld id="{D57F1E4F-1CFF-5643-939E-217C01CDF565}" type="slidenum">
              <a:rPr lang="en-US" smtClean="0">
                <a:solidFill>
                  <a:schemeClr val="bg1"/>
                </a:solidFill>
              </a:rPr>
              <a:t>5</a:t>
            </a:fld>
            <a:endParaRPr lang="en-US">
              <a:solidFill>
                <a:schemeClr val="bg1"/>
              </a:solidFill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96BB74A-7E3E-1B1D-0C2F-484AE8FB72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055832"/>
            <a:ext cx="4609074" cy="474633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B30AA9-0837-46F4-5296-5A08852A8271}"/>
              </a:ext>
            </a:extLst>
          </p:cNvPr>
          <p:cNvSpPr txBox="1"/>
          <p:nvPr/>
        </p:nvSpPr>
        <p:spPr>
          <a:xfrm>
            <a:off x="1240168" y="2949879"/>
            <a:ext cx="387680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Роли:</a:t>
            </a:r>
          </a:p>
          <a:p>
            <a:pPr marL="342900" indent="-342900">
              <a:buAutoNum type="arabicPeriod"/>
            </a:pPr>
            <a:r>
              <a:rPr lang="ru-RU" dirty="0"/>
              <a:t>Владелец мастерской</a:t>
            </a:r>
          </a:p>
          <a:p>
            <a:pPr marL="342900" indent="-342900">
              <a:buAutoNum type="arabicPeriod"/>
            </a:pPr>
            <a:r>
              <a:rPr lang="ru-RU" dirty="0"/>
              <a:t>Работник</a:t>
            </a:r>
          </a:p>
          <a:p>
            <a:pPr marL="342900" indent="-342900">
              <a:buAutoNum type="arabicPeriod"/>
            </a:pPr>
            <a:r>
              <a:rPr lang="ru-RU" dirty="0"/>
              <a:t>Администратор</a:t>
            </a:r>
          </a:p>
          <a:p>
            <a:pPr marL="342900" indent="-342900">
              <a:buAutoNum type="arabicPeriod"/>
            </a:pPr>
            <a:r>
              <a:rPr lang="ru-RU" dirty="0"/>
              <a:t>Пользователь</a:t>
            </a:r>
            <a:endParaRPr lang="en-US" dirty="0"/>
          </a:p>
        </p:txBody>
      </p:sp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647373A-11AC-0844-99D6-9928DF88B3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Заголовок 2">
            <a:extLst>
              <a:ext uri="{FF2B5EF4-FFF2-40B4-BE49-F238E27FC236}">
                <a16:creationId xmlns:a16="http://schemas.microsoft.com/office/drawing/2014/main" id="{752E2DB4-16D2-0E03-2738-86D3A24E589F}"/>
              </a:ext>
            </a:extLst>
          </p:cNvPr>
          <p:cNvSpPr txBox="1">
            <a:spLocks/>
          </p:cNvSpPr>
          <p:nvPr/>
        </p:nvSpPr>
        <p:spPr bwMode="auto">
          <a:xfrm>
            <a:off x="1028239" y="0"/>
            <a:ext cx="4300665" cy="86728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 sz="2800" b="1">
                <a:solidFill>
                  <a:schemeClr val="bg1"/>
                </a:solidFill>
                <a:latin typeface="Verdana"/>
                <a:ea typeface="Verdana"/>
                <a:cs typeface="Times New Roman"/>
              </a:rPr>
              <a:t>Проектная часть</a:t>
            </a:r>
            <a:endParaRPr lang="ru-RU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9707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A29ADC84-D7D7-B5BD-CD2A-9F68E850A37D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452EFC2E-E6F1-BCC1-5A68-F7BFE810F81E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28239" y="0"/>
            <a:ext cx="4300665" cy="867284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ru-RU" sz="2800" b="1" dirty="0">
                <a:solidFill>
                  <a:schemeClr val="bg1"/>
                </a:solidFill>
                <a:latin typeface="Verdana"/>
                <a:ea typeface="Verdana"/>
                <a:cs typeface="Times New Roman"/>
              </a:rPr>
              <a:t>Проектная часть</a:t>
            </a:r>
            <a:endParaRPr lang="ru-RU" sz="2800" dirty="0">
              <a:solidFill>
                <a:schemeClr val="bg1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B6C87BA-08A6-76E6-3A35-ADFF832FB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59957" y="6492875"/>
            <a:ext cx="2743200" cy="365125"/>
          </a:xfrm>
        </p:spPr>
        <p:txBody>
          <a:bodyPr/>
          <a:lstStyle/>
          <a:p>
            <a:pPr>
              <a:defRPr/>
            </a:pPr>
            <a:fld id="{D57F1E4F-1CFF-5643-939E-217C01CDF565}" type="slidenum">
              <a:rPr lang="en-US" smtClean="0">
                <a:solidFill>
                  <a:schemeClr val="bg1"/>
                </a:solidFill>
              </a:rPr>
              <a:t>6</a:t>
            </a:fld>
            <a:endParaRPr lang="en-US">
              <a:solidFill>
                <a:schemeClr val="bg1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7DC2300F-C759-151E-41DF-E3B12BBDDD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2705" y="1127436"/>
            <a:ext cx="6906589" cy="5191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20194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41A10974-0FAE-4FC5-89DE-C842F4FCBEE2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A10C67C-C9E8-F477-F9B9-02E5A4DFFF86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972792" y="-65618"/>
            <a:ext cx="10396728" cy="1009218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b="1" dirty="0">
                <a:solidFill>
                  <a:schemeClr val="bg1"/>
                </a:solidFill>
                <a:latin typeface="Verdana"/>
                <a:ea typeface="Verdana"/>
                <a:cs typeface="Times New Roman"/>
              </a:rPr>
              <a:t>Сервер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08029D4-929E-2403-8E61-A7AA19A6E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59957" y="6492875"/>
            <a:ext cx="2743200" cy="365125"/>
          </a:xfrm>
        </p:spPr>
        <p:txBody>
          <a:bodyPr/>
          <a:lstStyle/>
          <a:p>
            <a:pPr>
              <a:defRPr/>
            </a:pPr>
            <a:fld id="{D57F1E4F-1CFF-5643-939E-217C01CDF565}" type="slidenum">
              <a:rPr lang="en-US" smtClean="0">
                <a:solidFill>
                  <a:schemeClr val="bg1"/>
                </a:solidFill>
              </a:rPr>
              <a:t>7</a:t>
            </a:fld>
            <a:endParaRPr lang="en-US">
              <a:solidFill>
                <a:schemeClr val="bg1"/>
              </a:solidFill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BEB270E-9371-2192-31B0-EEBAA72195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471" y="1353323"/>
            <a:ext cx="4429743" cy="10574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15DA63D-88C6-2E97-2BDC-CEC3609D1D9E}"/>
              </a:ext>
            </a:extLst>
          </p:cNvPr>
          <p:cNvSpPr txBox="1"/>
          <p:nvPr/>
        </p:nvSpPr>
        <p:spPr>
          <a:xfrm>
            <a:off x="1308970" y="2395654"/>
            <a:ext cx="4202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Отправка 1 сообщения</a:t>
            </a:r>
            <a:endParaRPr lang="en-US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D5069126-AFD6-14D6-1552-AFD78ABDA9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9828" y="2685945"/>
            <a:ext cx="4344006" cy="428685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D7A4146-23D1-EE3E-50A3-78DE53E775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3434" y="3280996"/>
            <a:ext cx="2276793" cy="571580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3E7661C4-CF2F-F982-6B84-D2BF43DF9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5756" y="4217041"/>
            <a:ext cx="5382376" cy="46679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2D3CEC0-0AB5-BBBD-25D1-918C77D0C48F}"/>
              </a:ext>
            </a:extLst>
          </p:cNvPr>
          <p:cNvSpPr txBox="1"/>
          <p:nvPr/>
        </p:nvSpPr>
        <p:spPr>
          <a:xfrm>
            <a:off x="8131479" y="4770321"/>
            <a:ext cx="4202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Загрузка фото</a:t>
            </a:r>
            <a:endParaRPr lang="en-US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761B733-C3B7-FEB3-372B-356AAADC42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2792" y="3403415"/>
            <a:ext cx="2928941" cy="2087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5739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6EDF50FB-BBB4-D6DB-6B02-ACABBB09A3C7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39CF9118-D21D-C804-A021-8DA29592B35F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955301" y="-64602"/>
            <a:ext cx="10396728" cy="1009218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b="1" dirty="0">
                <a:solidFill>
                  <a:schemeClr val="bg1"/>
                </a:solidFill>
                <a:latin typeface="Verdana"/>
                <a:ea typeface="Verdana"/>
                <a:cs typeface="Times New Roman"/>
              </a:rPr>
              <a:t>Заключение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8D8E971-53CB-5D34-8C90-99493D9F5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59957" y="6492875"/>
            <a:ext cx="2743200" cy="365125"/>
          </a:xfrm>
        </p:spPr>
        <p:txBody>
          <a:bodyPr/>
          <a:lstStyle/>
          <a:p>
            <a:pPr>
              <a:defRPr/>
            </a:pPr>
            <a:fld id="{D57F1E4F-1CFF-5643-939E-217C01CDF565}" type="slidenum">
              <a:rPr lang="en-US" smtClean="0">
                <a:solidFill>
                  <a:schemeClr val="bg1"/>
                </a:solidFill>
              </a:rPr>
              <a:t>8</a:t>
            </a:fld>
            <a:endParaRPr lang="en-US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CC843E-3481-14C0-412A-6D5CA82B0098}"/>
              </a:ext>
            </a:extLst>
          </p:cNvPr>
          <p:cNvSpPr txBox="1"/>
          <p:nvPr/>
        </p:nvSpPr>
        <p:spPr>
          <a:xfrm>
            <a:off x="1218346" y="2703083"/>
            <a:ext cx="1116363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Разработана информационная система для автоматизации работы автосервисов.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Реализованы функции учета автомобилей, клиентов, ремонтов и запчастей.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Создана база данных для хранения и обработки информации.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Реализованы онлайн-запись, отзывы, уведомления и управление услугами.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Поставленная цель достигнута, все задачи выполнены.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Разработанное решение может использоваться для дальнейшего развития и внедрения в реальных автосервисах.</a:t>
            </a:r>
          </a:p>
        </p:txBody>
      </p:sp>
    </p:spTree>
    <p:extLst>
      <p:ext uri="{BB962C8B-B14F-4D97-AF65-F5344CB8AC3E}">
        <p14:creationId xmlns:p14="http://schemas.microsoft.com/office/powerpoint/2010/main" val="38609523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>
          <a:blip r:embed="rId2">
            <a:lum/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5C8EB3-7D5E-75B5-9596-A941537A2879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AE0592-FE4A-172B-6AB1-FC5FAD02E65D}"/>
              </a:ext>
            </a:extLst>
          </p:cNvPr>
          <p:cNvSpPr>
            <a:spLocks noGrp="1"/>
          </p:cNvSpPr>
          <p:nvPr>
            <p:ph type="ctrTitle"/>
          </p:nvPr>
        </p:nvSpPr>
        <p:spPr bwMode="auto">
          <a:xfrm>
            <a:off x="2032212" y="2342149"/>
            <a:ext cx="9144000" cy="1324547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compatLnSpc="0">
            <a:normAutofit fontScale="90000"/>
          </a:bodyPr>
          <a:lstStyle/>
          <a:p>
            <a:pPr>
              <a:defRPr/>
            </a:pPr>
            <a:r>
              <a:rPr lang="ru-RU" sz="2800" dirty="0">
                <a:solidFill>
                  <a:schemeClr val="bg1"/>
                </a:solidFill>
                <a:latin typeface="Verdana"/>
                <a:ea typeface="Verdana"/>
                <a:cs typeface="Times New Roman"/>
              </a:rPr>
              <a:t>Дипломный проект</a:t>
            </a:r>
            <a:br>
              <a:rPr lang="ru-RU" sz="2800" dirty="0">
                <a:solidFill>
                  <a:schemeClr val="bg1"/>
                </a:solidFill>
                <a:latin typeface="Verdana"/>
                <a:ea typeface="Verdana"/>
                <a:cs typeface="Times New Roman"/>
              </a:rPr>
            </a:br>
            <a:r>
              <a:rPr lang="ru-RU" sz="2800" b="1" dirty="0">
                <a:solidFill>
                  <a:schemeClr val="bg1"/>
                </a:solidFill>
                <a:latin typeface="Verdana"/>
                <a:ea typeface="Verdana"/>
                <a:cs typeface="Times New Roman"/>
              </a:rPr>
              <a:t>РАЗРАБОТКА ПРИЛОЖЕНИЯ ДЛЯ УЧЕТА СЕРВИСНОГО ОБСЛУЖИВАНИЯ АВТОМОБИЛЕЙ</a:t>
            </a:r>
            <a:endParaRPr lang="ru-RU"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BB8DC8B-2145-1DC0-67C2-DD396212562E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auto">
          <a:xfrm>
            <a:off x="6422425" y="5429217"/>
            <a:ext cx="5753099" cy="138269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algn="l">
              <a:defRPr/>
            </a:pPr>
            <a:r>
              <a:rPr lang="ru-RU" dirty="0">
                <a:solidFill>
                  <a:schemeClr val="bg1"/>
                </a:solidFill>
              </a:rPr>
              <a:t>Выполнил: Белоглазов И. А.</a:t>
            </a:r>
          </a:p>
          <a:p>
            <a:pPr algn="l">
              <a:defRPr/>
            </a:pPr>
            <a:r>
              <a:rPr lang="ru-RU" dirty="0">
                <a:solidFill>
                  <a:schemeClr val="bg1"/>
                </a:solidFill>
                <a:latin typeface="Verdana"/>
                <a:ea typeface="Verdana"/>
              </a:rPr>
              <a:t>Руководитель: Спиридонова Т. С.</a:t>
            </a:r>
          </a:p>
          <a:p>
            <a:pPr algn="l">
              <a:defRPr/>
            </a:pPr>
            <a:endParaRPr lang="ru-RU" dirty="0">
              <a:solidFill>
                <a:schemeClr val="bg1"/>
              </a:solidFill>
            </a:endParaRP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C23735E5-6461-764A-630A-A92B217BF458}"/>
              </a:ext>
            </a:extLst>
          </p:cNvPr>
          <p:cNvGraphicFramePr>
            <a:graphicFrameLocks noGrp="1"/>
          </p:cNvGraphicFramePr>
          <p:nvPr/>
        </p:nvGraphicFramePr>
        <p:xfrm>
          <a:off x="3160077" y="104236"/>
          <a:ext cx="5871845" cy="18531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871845">
                  <a:extLst>
                    <a:ext uri="{9D8B030D-6E8A-4147-A177-3AD203B41FA5}">
                      <a16:colId xmlns:a16="http://schemas.microsoft.com/office/drawing/2014/main" val="571936935"/>
                    </a:ext>
                  </a:extLst>
                </a:gridCol>
              </a:tblGrid>
              <a:tr h="121793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ru-RU" sz="1200" b="0" kern="16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ПРАВИТЕЛЬСТВО САНКТ-ПЕТЕРБУРГА</a:t>
                      </a:r>
                      <a:endParaRPr lang="ru-RU" sz="1200" b="1" kern="1600" dirty="0"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ru-RU" sz="1200" b="0" kern="16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КОМИТЕТ ПО НАУКЕ И ВЫСШЕЙ ШКОЛЕ</a:t>
                      </a:r>
                      <a:br>
                        <a:rPr lang="ru-RU" sz="1200" b="0" kern="16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ru-RU" sz="1200" b="0" kern="16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Санкт-Петербургское государственное бюджетное профессиональное образовательное учреждение</a:t>
                      </a:r>
                      <a:endParaRPr lang="ru-RU" sz="1200" b="1" kern="1600" dirty="0"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ru-RU" sz="1200" b="0" kern="16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«ПЕТРОВСКИЙ КОЛЛЕДЖ»</a:t>
                      </a:r>
                      <a:endParaRPr lang="ru-RU" sz="1200" b="1" kern="1600" dirty="0"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2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(СПб ГБПОУ «Петровский колледж»)</a:t>
                      </a: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548206"/>
                  </a:ext>
                </a:extLst>
              </a:tr>
              <a:tr h="3784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2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Отделение информационных технологий</a:t>
                      </a:r>
                      <a:br>
                        <a:rPr lang="ru-RU" sz="12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endParaRPr lang="ru-RU" sz="1200" dirty="0"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07846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107852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Тема1</Template>
  <TotalTime>211</TotalTime>
  <Words>340</Words>
  <Application>Microsoft Office PowerPoint</Application>
  <DocSecurity>0</DocSecurity>
  <PresentationFormat>Широкоэкранный</PresentationFormat>
  <Paragraphs>106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Verdana</vt:lpstr>
      <vt:lpstr>Тема1</vt:lpstr>
      <vt:lpstr>Дипломный проект РАЗРАБОТКА ПРИЛОЖЕНИЯ ДЛЯ УЧЕТА СЕРВИСНОГО ОБСЛУЖИВАНИЯ АВТОМОБИЛЕЙ</vt:lpstr>
      <vt:lpstr>Цель и задачи</vt:lpstr>
      <vt:lpstr>Аналоги</vt:lpstr>
      <vt:lpstr>Программные средства</vt:lpstr>
      <vt:lpstr>Презентация PowerPoint</vt:lpstr>
      <vt:lpstr>Проектная часть</vt:lpstr>
      <vt:lpstr>Сервер</vt:lpstr>
      <vt:lpstr>Заключение</vt:lpstr>
      <vt:lpstr>Дипломный проект РАЗРАБОТКА ПРИЛОЖЕНИЯ ДЛЯ УЧЕТА СЕРВИСНОГО ОБСЛУЖИВАНИЯ АВТОМОБИЛЕЙ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Маркетинговые исследования рынка образовательных услуг</dc:title>
  <dc:subject/>
  <dc:creator>Сидякина Анастасия Алексеевна</dc:creator>
  <cp:keywords/>
  <dc:description/>
  <cp:lastModifiedBy>ivanessco</cp:lastModifiedBy>
  <cp:revision>119</cp:revision>
  <dcterms:created xsi:type="dcterms:W3CDTF">2023-01-30T07:02:12Z</dcterms:created>
  <dcterms:modified xsi:type="dcterms:W3CDTF">2026-06-22T21:50:09Z</dcterms:modified>
  <cp:category/>
  <dc:identifier/>
  <cp:contentStatus/>
  <dc:language/>
  <cp:version/>
</cp:coreProperties>
</file>