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57" r:id="rId4"/>
    <p:sldId id="258" r:id="rId5"/>
    <p:sldId id="263" r:id="rId6"/>
    <p:sldId id="262" r:id="rId7"/>
    <p:sldId id="260" r:id="rId8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CCBAB-DE13-409D-963B-4E17794344C4}" type="datetimeFigureOut">
              <a:rPr lang="ru-RU" smtClean="0"/>
              <a:t>22.06.2026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23EC3-A7AD-4CF2-B5C2-B6477F6912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227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1DA8CA7-6B06-4EDB-9D2C-EA1DF633AFCC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1E422F1-E30A-401F-87D5-F59C38AC313D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9BF96C5-2919-41D9-A07A-FBDC2BAA99D6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BC24BAA-FEF3-4EEA-B886-B7D72EFE7120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D75F720-5563-4DCF-9BBE-17783D8FC72D}" type="datetime1">
              <a:rPr lang="en-US" smtClean="0"/>
              <a:t>6/22/2026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B79D20E-0852-47EE-B52C-BE34469C909C}" type="datetime1">
              <a:rPr lang="en-US" smtClean="0"/>
              <a:t>6/22/2026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4A8803A-4F35-47CA-A59A-FCDBB2B2BE91}" type="datetime1">
              <a:rPr lang="en-US" smtClean="0"/>
              <a:t>6/22/2026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42294A5-EFA7-42D5-AD24-B350863219F6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4CAF474-E85F-40E9-B676-E3F493A3CDC0}" type="datetime1">
              <a:rPr lang="en-US" smtClean="0"/>
              <a:t>6/22/2026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AA79793-1899-4B8B-AD82-DBEE28322A39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E428FA3-771E-4594-8D0E-0E738D52A0A6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9C1D3A8-30D1-4863-B28E-AFA8270EBE5F}" type="datetime1">
              <a:rPr lang="en-US" smtClean="0"/>
              <a:t>6/22/2026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57F1E4F-1CFF-5643-939E-217C01CDF56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2032212" y="2342149"/>
            <a:ext cx="9144000" cy="132454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 fontScale="90000"/>
          </a:bodyPr>
          <a:lstStyle/>
          <a:p>
            <a:pPr>
              <a:defRPr/>
            </a:pPr>
            <a:r>
              <a:rPr lang="ru-RU" sz="2800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Дипломный проект</a:t>
            </a:r>
            <a:br>
              <a:rPr lang="ru-RU" sz="2800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</a:br>
            <a:r>
              <a:rPr lang="ru-RU" sz="2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РАЗРАБОТКА ПРИЛОЖЕНИЯ ДЛЯ УЧЕТА СЕРВИСНОГО ОБСЛУЖИВАНИЯ АВТОМОБИЛЕЙ</a:t>
            </a:r>
            <a:endParaRPr lang="ru-RU" sz="2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6422425" y="5429217"/>
            <a:ext cx="5753099" cy="138269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algn="l">
              <a:defRPr/>
            </a:pPr>
            <a:r>
              <a:rPr lang="ru-RU" dirty="0">
                <a:solidFill>
                  <a:schemeClr val="bg1"/>
                </a:solidFill>
              </a:rPr>
              <a:t>Выполнил: Белоглазов И. А.</a:t>
            </a:r>
          </a:p>
          <a:p>
            <a:pPr algn="l">
              <a:defRPr/>
            </a:pPr>
            <a:r>
              <a:rPr lang="ru-RU" dirty="0">
                <a:solidFill>
                  <a:schemeClr val="bg1"/>
                </a:solidFill>
                <a:latin typeface="Verdana"/>
                <a:ea typeface="Verdana"/>
              </a:rPr>
              <a:t>Руководитель: Спиридонова Т. С.</a:t>
            </a:r>
          </a:p>
          <a:p>
            <a:pPr algn="l">
              <a:defRPr/>
            </a:pP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67487"/>
              </p:ext>
            </p:extLst>
          </p:nvPr>
        </p:nvGraphicFramePr>
        <p:xfrm>
          <a:off x="3160077" y="104236"/>
          <a:ext cx="5871845" cy="1853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71845">
                  <a:extLst>
                    <a:ext uri="{9D8B030D-6E8A-4147-A177-3AD203B41FA5}">
                      <a16:colId xmlns:a16="http://schemas.microsoft.com/office/drawing/2014/main" val="571936935"/>
                    </a:ext>
                  </a:extLst>
                </a:gridCol>
              </a:tblGrid>
              <a:tr h="12179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b="0" kern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ПРАВИТЕЛЬСТВО САНКТ-ПЕТЕРБУРГА</a:t>
                      </a:r>
                      <a:endParaRPr lang="ru-RU" sz="1200" b="1" kern="1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b="0" kern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КОМИТЕТ ПО НАУКЕ И ВЫСШЕЙ ШКОЛЕ</a:t>
                      </a:r>
                      <a:br>
                        <a:rPr lang="ru-RU" sz="1200" b="0" kern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b="0" kern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Санкт-Петербургское государственное бюджетное профессиональное образовательное учреждение</a:t>
                      </a:r>
                      <a:endParaRPr lang="ru-RU" sz="1200" b="1" kern="1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b="0" kern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«ПЕТРОВСКИЙ КОЛЛЕДЖ»</a:t>
                      </a:r>
                      <a:endParaRPr lang="ru-RU" sz="1200" b="1" kern="1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(СПб ГБПОУ «Петровский колледж»)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4820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Отделение информационных технологий</a:t>
                      </a:r>
                      <a:br>
                        <a:rPr lang="ru-RU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ru-RU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7846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AFFA5E0-82CB-FAA3-9467-49ABF314A32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9F62A3-3C2E-F8C8-7089-C7FF2E95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9957" y="6492875"/>
            <a:ext cx="2743200" cy="365125"/>
          </a:xfrm>
        </p:spPr>
        <p:txBody>
          <a:bodyPr/>
          <a:lstStyle/>
          <a:p>
            <a:pPr>
              <a:defRPr/>
            </a:pPr>
            <a:fld id="{D57F1E4F-1CFF-5643-939E-217C01CDF565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9979CC1-5624-89BF-32E6-489DC9FCC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777" y="-236237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Цели и задачи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5688209A-268D-E694-7D9B-CC5DA8204B29}"/>
              </a:ext>
            </a:extLst>
          </p:cNvPr>
          <p:cNvSpPr/>
          <p:nvPr/>
        </p:nvSpPr>
        <p:spPr>
          <a:xfrm>
            <a:off x="650790" y="3616411"/>
            <a:ext cx="1812324" cy="1779374"/>
          </a:xfrm>
          <a:prstGeom prst="ellipse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id="{560F4D9B-7C6C-22A8-4BAE-F235C57C2D93}"/>
              </a:ext>
            </a:extLst>
          </p:cNvPr>
          <p:cNvSpPr/>
          <p:nvPr/>
        </p:nvSpPr>
        <p:spPr>
          <a:xfrm>
            <a:off x="2561967" y="3962400"/>
            <a:ext cx="230660" cy="108739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65C808-3165-7B49-F629-A9DD711A1625}"/>
              </a:ext>
            </a:extLst>
          </p:cNvPr>
          <p:cNvSpPr txBox="1"/>
          <p:nvPr/>
        </p:nvSpPr>
        <p:spPr>
          <a:xfrm>
            <a:off x="778476" y="4049137"/>
            <a:ext cx="15569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Провести анализ предметной области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6527913-C12E-A9F3-66BD-5231D5915977}"/>
              </a:ext>
            </a:extLst>
          </p:cNvPr>
          <p:cNvSpPr/>
          <p:nvPr/>
        </p:nvSpPr>
        <p:spPr>
          <a:xfrm>
            <a:off x="2891480" y="3606233"/>
            <a:ext cx="1812324" cy="1779374"/>
          </a:xfrm>
          <a:prstGeom prst="ellipse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: вправо 8">
            <a:extLst>
              <a:ext uri="{FF2B5EF4-FFF2-40B4-BE49-F238E27FC236}">
                <a16:creationId xmlns:a16="http://schemas.microsoft.com/office/drawing/2014/main" id="{860EDB41-98F8-48A2-0076-9EF31714D0DF}"/>
              </a:ext>
            </a:extLst>
          </p:cNvPr>
          <p:cNvSpPr/>
          <p:nvPr/>
        </p:nvSpPr>
        <p:spPr>
          <a:xfrm>
            <a:off x="4802657" y="3952222"/>
            <a:ext cx="230660" cy="108739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BA96B3-4EA4-EFCC-D698-5120953A0152}"/>
              </a:ext>
            </a:extLst>
          </p:cNvPr>
          <p:cNvSpPr txBox="1"/>
          <p:nvPr/>
        </p:nvSpPr>
        <p:spPr>
          <a:xfrm>
            <a:off x="2969740" y="4038959"/>
            <a:ext cx="16558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выполнить анализ существующих аналогов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FADAB728-538C-4912-5090-8DE7F6A8DBB3}"/>
              </a:ext>
            </a:extLst>
          </p:cNvPr>
          <p:cNvSpPr/>
          <p:nvPr/>
        </p:nvSpPr>
        <p:spPr>
          <a:xfrm>
            <a:off x="5132170" y="3596055"/>
            <a:ext cx="1812324" cy="1779374"/>
          </a:xfrm>
          <a:prstGeom prst="ellipse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EAB2290F-48EC-9291-9AB6-768D4174FE94}"/>
              </a:ext>
            </a:extLst>
          </p:cNvPr>
          <p:cNvSpPr/>
          <p:nvPr/>
        </p:nvSpPr>
        <p:spPr>
          <a:xfrm>
            <a:off x="7043347" y="3942044"/>
            <a:ext cx="230660" cy="108739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D828E6-7387-FA14-E153-E1E563710A2D}"/>
              </a:ext>
            </a:extLst>
          </p:cNvPr>
          <p:cNvSpPr txBox="1"/>
          <p:nvPr/>
        </p:nvSpPr>
        <p:spPr>
          <a:xfrm>
            <a:off x="5161003" y="4059794"/>
            <a:ext cx="18123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сформировать требования к информационной системе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99B0F35A-3EAE-2222-2D38-6DEEABC63524}"/>
              </a:ext>
            </a:extLst>
          </p:cNvPr>
          <p:cNvSpPr/>
          <p:nvPr/>
        </p:nvSpPr>
        <p:spPr>
          <a:xfrm>
            <a:off x="7372860" y="3585877"/>
            <a:ext cx="1812324" cy="1779374"/>
          </a:xfrm>
          <a:prstGeom prst="ellipse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FC01B4C7-A5D3-A05B-ABCC-7076D5BEDCB7}"/>
              </a:ext>
            </a:extLst>
          </p:cNvPr>
          <p:cNvSpPr/>
          <p:nvPr/>
        </p:nvSpPr>
        <p:spPr>
          <a:xfrm>
            <a:off x="9284037" y="3931866"/>
            <a:ext cx="230660" cy="1087396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EABDC7-552D-AE5F-6471-21C6B7D7CBD5}"/>
              </a:ext>
            </a:extLst>
          </p:cNvPr>
          <p:cNvSpPr txBox="1"/>
          <p:nvPr/>
        </p:nvSpPr>
        <p:spPr>
          <a:xfrm>
            <a:off x="7451120" y="4116410"/>
            <a:ext cx="16558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спроектировать программное обеспечение </a:t>
            </a:r>
            <a:r>
              <a:rPr lang="ru-RU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ис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4F99C584-FE48-1055-EAAE-C1E709610A20}"/>
              </a:ext>
            </a:extLst>
          </p:cNvPr>
          <p:cNvSpPr/>
          <p:nvPr/>
        </p:nvSpPr>
        <p:spPr>
          <a:xfrm>
            <a:off x="9613550" y="3575699"/>
            <a:ext cx="1812324" cy="1779374"/>
          </a:xfrm>
          <a:prstGeom prst="ellipse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EA9D64-DE6B-4BE4-C458-53EF7C061A9A}"/>
              </a:ext>
            </a:extLst>
          </p:cNvPr>
          <p:cNvSpPr txBox="1"/>
          <p:nvPr/>
        </p:nvSpPr>
        <p:spPr>
          <a:xfrm>
            <a:off x="9741236" y="4029044"/>
            <a:ext cx="15569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Verdana" panose="020B0604030504040204" pitchFamily="34" charset="0"/>
                <a:ea typeface="Verdana" panose="020B0604030504040204" pitchFamily="34" charset="0"/>
              </a:rPr>
              <a:t>Реализовать  программное обеспечение </a:t>
            </a:r>
            <a:r>
              <a:rPr lang="ru-RU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ис</a:t>
            </a:r>
            <a:endParaRPr lang="ru-RU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AD1C9-9B09-B109-CC23-8F2F9C119AF2}"/>
              </a:ext>
            </a:extLst>
          </p:cNvPr>
          <p:cNvSpPr txBox="1"/>
          <p:nvPr/>
        </p:nvSpPr>
        <p:spPr>
          <a:xfrm>
            <a:off x="838443" y="1230620"/>
            <a:ext cx="62049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Цель:</a:t>
            </a:r>
          </a:p>
          <a:p>
            <a:pPr algn="just"/>
            <a:r>
              <a:rPr lang="ru-RU" dirty="0"/>
              <a:t>Разработка информационной системы для автоматизации деятельности автосервисов, обеспечивающей учет автомобилей и клиентов, управление ремонтными работами, запись на обслуживание, продажу автомобилей и запчастей, а также взаимодействие между клиентами и автосервисами.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22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259957" y="6492875"/>
            <a:ext cx="2743200" cy="365125"/>
          </a:xfrm>
        </p:spPr>
        <p:txBody>
          <a:bodyPr/>
          <a:lstStyle/>
          <a:p>
            <a:pPr>
              <a:defRPr/>
            </a:pPr>
            <a:fld id="{D57F1E4F-1CFF-5643-939E-217C01CDF565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0173FFA-6A47-6C4F-2FCA-70846A5E2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777" y="-236237"/>
            <a:ext cx="10515600" cy="1325563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Аналоги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2825E37-B396-46EF-E937-914444335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017312"/>
              </p:ext>
            </p:extLst>
          </p:nvPr>
        </p:nvGraphicFramePr>
        <p:xfrm>
          <a:off x="891745" y="1183218"/>
          <a:ext cx="10725664" cy="4947192"/>
        </p:xfrm>
        <a:graphic>
          <a:graphicData uri="http://schemas.openxmlformats.org/drawingml/2006/table">
            <a:tbl>
              <a:tblPr/>
              <a:tblGrid>
                <a:gridCol w="2681416">
                  <a:extLst>
                    <a:ext uri="{9D8B030D-6E8A-4147-A177-3AD203B41FA5}">
                      <a16:colId xmlns:a16="http://schemas.microsoft.com/office/drawing/2014/main" val="1329343092"/>
                    </a:ext>
                  </a:extLst>
                </a:gridCol>
                <a:gridCol w="2681416">
                  <a:extLst>
                    <a:ext uri="{9D8B030D-6E8A-4147-A177-3AD203B41FA5}">
                      <a16:colId xmlns:a16="http://schemas.microsoft.com/office/drawing/2014/main" val="1196675930"/>
                    </a:ext>
                  </a:extLst>
                </a:gridCol>
                <a:gridCol w="2681416">
                  <a:extLst>
                    <a:ext uri="{9D8B030D-6E8A-4147-A177-3AD203B41FA5}">
                      <a16:colId xmlns:a16="http://schemas.microsoft.com/office/drawing/2014/main" val="2227152946"/>
                    </a:ext>
                  </a:extLst>
                </a:gridCol>
                <a:gridCol w="2681416">
                  <a:extLst>
                    <a:ext uri="{9D8B030D-6E8A-4147-A177-3AD203B41FA5}">
                      <a16:colId xmlns:a16="http://schemas.microsoft.com/office/drawing/2014/main" val="2049701087"/>
                    </a:ext>
                  </a:extLst>
                </a:gridCol>
              </a:tblGrid>
              <a:tr h="235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Критерий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/>
                        <a:t>АвтоДилер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/>
                        <a:t>1С:Автосервис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/>
                        <a:t>DriveCare</a:t>
                      </a:r>
                      <a:endParaRPr lang="ru-RU" sz="2400" dirty="0"/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89952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Учёт клиентов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346378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Учёт автомобилей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81321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История ремонтов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9090774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Онлайн-запись в сервис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</a:rPr>
                        <a:t>✖ / ограниченно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866029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Личный кабинет владельца автомобиля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147460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Отслеживание статуса ремонта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Частично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Частично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845645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Встроенный чат клиент-сервис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883792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Карта автосервисов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564905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Продажа автомобилей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835197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Интернет-магазин запчастей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Частично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151633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Система ролей и прав доступа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141236"/>
                  </a:ext>
                </a:extLst>
              </a:tr>
              <a:tr h="4116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Уведомления в реальном времени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rgbClr val="FF0000"/>
                          </a:solidFill>
                        </a:rPr>
                        <a:t>✖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Частично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>
                          <a:solidFill>
                            <a:schemeClr val="accent6"/>
                          </a:solidFill>
                        </a:rPr>
                        <a:t>✔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026660"/>
                  </a:ext>
                </a:extLst>
              </a:tr>
              <a:tr h="2352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Стоимость лицензии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Платная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/>
                        <a:t>Платная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400" dirty="0"/>
                        <a:t>Собственная разработка</a:t>
                      </a:r>
                    </a:p>
                  </a:txBody>
                  <a:tcPr marL="58802" marR="58802" marT="29401" marB="29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1004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>
          <a:xfrm>
            <a:off x="1028239" y="0"/>
            <a:ext cx="4300665" cy="86728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sz="2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Программные средства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259957" y="6492875"/>
            <a:ext cx="2743200" cy="365125"/>
          </a:xfrm>
        </p:spPr>
        <p:txBody>
          <a:bodyPr/>
          <a:lstStyle/>
          <a:p>
            <a:pPr>
              <a:defRPr/>
            </a:pPr>
            <a:fld id="{D57F1E4F-1CFF-5643-939E-217C01CDF565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CEE5C1-4615-06DE-69C0-8AEF4604F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890" y="3051774"/>
            <a:ext cx="2343566" cy="234356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36F7C67-8149-904A-1337-77CDBF08BD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83" r="31589"/>
          <a:stretch>
            <a:fillRect/>
          </a:stretch>
        </p:blipFill>
        <p:spPr>
          <a:xfrm>
            <a:off x="8893843" y="2457145"/>
            <a:ext cx="972065" cy="138070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3009EAD-F4B9-B88D-705D-C4033BBE91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741" r="17233"/>
          <a:stretch>
            <a:fillRect/>
          </a:stretch>
        </p:blipFill>
        <p:spPr>
          <a:xfrm>
            <a:off x="5792229" y="4361840"/>
            <a:ext cx="1341739" cy="112600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5E45008-9E20-6499-8313-4758A4DBEC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7333" y="4223557"/>
            <a:ext cx="1069155" cy="106915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29D64B-CB5A-A2C2-4BBE-EADC06602A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92229" y="2558754"/>
            <a:ext cx="1102841" cy="110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683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1A10974-0FAE-4FC5-89DE-C842F4FCBEE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10C67C-C9E8-F477-F9B9-02E5A4DFFF8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72792" y="-65618"/>
            <a:ext cx="10396728" cy="100921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Сервер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8029D4-929E-2403-8E61-A7AA19A6E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9957" y="6492875"/>
            <a:ext cx="2743200" cy="365125"/>
          </a:xfrm>
        </p:spPr>
        <p:txBody>
          <a:bodyPr/>
          <a:lstStyle/>
          <a:p>
            <a:pPr>
              <a:defRPr/>
            </a:pPr>
            <a:fld id="{D57F1E4F-1CFF-5643-939E-217C01CDF565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BEB270E-9371-2192-31B0-EEBAA7219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01" y="2900288"/>
            <a:ext cx="4429743" cy="10574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5DA63D-88C6-2E97-2BDC-CEC3609D1D9E}"/>
              </a:ext>
            </a:extLst>
          </p:cNvPr>
          <p:cNvSpPr txBox="1"/>
          <p:nvPr/>
        </p:nvSpPr>
        <p:spPr>
          <a:xfrm>
            <a:off x="1346548" y="4081104"/>
            <a:ext cx="420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Отправка 1 сообщения</a:t>
            </a:r>
            <a:endParaRPr lang="en-US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5069126-AFD6-14D6-1552-AFD78ABDA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828" y="2685945"/>
            <a:ext cx="4344006" cy="42868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D7A4146-23D1-EE3E-50A3-78DE53E77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434" y="3280996"/>
            <a:ext cx="2276793" cy="57158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E7661C4-CF2F-F982-6B84-D2BF43DF9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5756" y="4217041"/>
            <a:ext cx="5382376" cy="46679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2D3CEC0-0AB5-BBBD-25D1-918C77D0C48F}"/>
              </a:ext>
            </a:extLst>
          </p:cNvPr>
          <p:cNvSpPr txBox="1"/>
          <p:nvPr/>
        </p:nvSpPr>
        <p:spPr>
          <a:xfrm>
            <a:off x="8131479" y="4770321"/>
            <a:ext cx="420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Загрузка фото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573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EDF50FB-BBB4-D6DB-6B02-ACABBB09A3C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9CF9118-D21D-C804-A021-8DA29592B35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55301" y="-64602"/>
            <a:ext cx="10396728" cy="100921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Заключение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D8E971-53CB-5D34-8C90-99493D9F5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9957" y="6492875"/>
            <a:ext cx="2743200" cy="365125"/>
          </a:xfrm>
        </p:spPr>
        <p:txBody>
          <a:bodyPr/>
          <a:lstStyle/>
          <a:p>
            <a:pPr>
              <a:defRPr/>
            </a:pPr>
            <a:fld id="{D57F1E4F-1CFF-5643-939E-217C01CDF565}" type="slidenum">
              <a:rPr lang="en-US" smtClean="0">
                <a:solidFill>
                  <a:schemeClr val="bg1"/>
                </a:solidFill>
              </a:rPr>
              <a:t>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CC843E-3481-14C0-412A-6D5CA82B0098}"/>
              </a:ext>
            </a:extLst>
          </p:cNvPr>
          <p:cNvSpPr txBox="1"/>
          <p:nvPr/>
        </p:nvSpPr>
        <p:spPr>
          <a:xfrm>
            <a:off x="955301" y="1745179"/>
            <a:ext cx="609704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Заключение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Разработана информационная система для автоматизации работы автосервисов.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Реализованы функции учета автомобилей, клиентов, ремонтов и запчастей.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Создана база данных для хранения и обработки информации.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Реализованы онлайн-запись, отзывы, уведомления и управление услугами.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Поставленная цель достигнута, все задачи выполнены.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Разработанное решение может использоваться для дальнейшего развития и внедрения в реальных автосервисах.</a:t>
            </a:r>
          </a:p>
        </p:txBody>
      </p:sp>
    </p:spTree>
    <p:extLst>
      <p:ext uri="{BB962C8B-B14F-4D97-AF65-F5344CB8AC3E}">
        <p14:creationId xmlns:p14="http://schemas.microsoft.com/office/powerpoint/2010/main" val="3860952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C8EB3-7D5E-75B5-9596-A941537A287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AE0592-FE4A-172B-6AB1-FC5FAD02E65D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2032212" y="2342149"/>
            <a:ext cx="9144000" cy="132454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0">
            <a:normAutofit fontScale="90000"/>
          </a:bodyPr>
          <a:lstStyle/>
          <a:p>
            <a:pPr>
              <a:defRPr/>
            </a:pPr>
            <a:r>
              <a:rPr lang="ru-RU" sz="2800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Дипломный проект</a:t>
            </a:r>
            <a:br>
              <a:rPr lang="ru-RU" sz="2800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</a:br>
            <a:r>
              <a:rPr lang="ru-RU" sz="2800" b="1" dirty="0">
                <a:solidFill>
                  <a:schemeClr val="bg1"/>
                </a:solidFill>
                <a:latin typeface="Verdana"/>
                <a:ea typeface="Verdana"/>
                <a:cs typeface="Times New Roman"/>
              </a:rPr>
              <a:t>РАЗРАБОТКА ПРИЛОЖЕНИЯ ДЛЯ УЧЕТА СЕРВИСНОГО ОБСЛУЖИВАНИЯ АВТОМОБИЛЕЙ</a:t>
            </a:r>
            <a:endParaRPr lang="ru-RU" sz="2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B8DC8B-2145-1DC0-67C2-DD396212562E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6422425" y="5429217"/>
            <a:ext cx="5753099" cy="138269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algn="l">
              <a:defRPr/>
            </a:pPr>
            <a:r>
              <a:rPr lang="ru-RU" dirty="0">
                <a:solidFill>
                  <a:schemeClr val="bg1"/>
                </a:solidFill>
              </a:rPr>
              <a:t>Выполнил: Белоглазов И. А.</a:t>
            </a:r>
          </a:p>
          <a:p>
            <a:pPr algn="l">
              <a:defRPr/>
            </a:pPr>
            <a:r>
              <a:rPr lang="ru-RU" dirty="0">
                <a:solidFill>
                  <a:schemeClr val="bg1"/>
                </a:solidFill>
                <a:latin typeface="Verdana"/>
                <a:ea typeface="Verdana"/>
              </a:rPr>
              <a:t>Руководитель: Спиридонова Т. С.</a:t>
            </a:r>
          </a:p>
          <a:p>
            <a:pPr algn="l">
              <a:defRPr/>
            </a:pP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23735E5-6461-764A-630A-A92B217BF458}"/>
              </a:ext>
            </a:extLst>
          </p:cNvPr>
          <p:cNvGraphicFramePr>
            <a:graphicFrameLocks noGrp="1"/>
          </p:cNvGraphicFramePr>
          <p:nvPr/>
        </p:nvGraphicFramePr>
        <p:xfrm>
          <a:off x="3160077" y="104236"/>
          <a:ext cx="5871845" cy="1853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71845">
                  <a:extLst>
                    <a:ext uri="{9D8B030D-6E8A-4147-A177-3AD203B41FA5}">
                      <a16:colId xmlns:a16="http://schemas.microsoft.com/office/drawing/2014/main" val="571936935"/>
                    </a:ext>
                  </a:extLst>
                </a:gridCol>
              </a:tblGrid>
              <a:tr h="12179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b="0" kern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ПРАВИТЕЛЬСТВО САНКТ-ПЕТЕРБУРГА</a:t>
                      </a:r>
                      <a:endParaRPr lang="ru-RU" sz="1200" b="1" kern="1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b="0" kern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КОМИТЕТ ПО НАУКЕ И ВЫСШЕЙ ШКОЛЕ</a:t>
                      </a:r>
                      <a:br>
                        <a:rPr lang="ru-RU" sz="1200" b="0" kern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b="0" kern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Санкт-Петербургское государственное бюджетное профессиональное образовательное учреждение</a:t>
                      </a:r>
                      <a:endParaRPr lang="ru-RU" sz="1200" b="1" kern="1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b="0" kern="16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«ПЕТРОВСКИЙ КОЛЛЕДЖ»</a:t>
                      </a:r>
                      <a:endParaRPr lang="ru-RU" sz="1200" b="1" kern="16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(СПб ГБПОУ «Петровский колледж»)</a:t>
                      </a: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48206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Отделение информационных технологий</a:t>
                      </a:r>
                      <a:br>
                        <a:rPr lang="ru-RU" sz="12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ru-RU" sz="12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784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0785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113</TotalTime>
  <Words>328</Words>
  <Application>Microsoft Office PowerPoint</Application>
  <DocSecurity>0</DocSecurity>
  <PresentationFormat>Широкоэкранный</PresentationFormat>
  <Paragraphs>98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Verdana</vt:lpstr>
      <vt:lpstr>Тема1</vt:lpstr>
      <vt:lpstr>Дипломный проект РАЗРАБОТКА ПРИЛОЖЕНИЯ ДЛЯ УЧЕТА СЕРВИСНОГО ОБСЛУЖИВАНИЯ АВТОМОБИЛЕЙ</vt:lpstr>
      <vt:lpstr>Цели и задачи</vt:lpstr>
      <vt:lpstr>Аналоги</vt:lpstr>
      <vt:lpstr>Программные средства</vt:lpstr>
      <vt:lpstr>Сервер</vt:lpstr>
      <vt:lpstr>Заключение</vt:lpstr>
      <vt:lpstr>Дипломный проект РАЗРАБОТКА ПРИЛОЖЕНИЯ ДЛЯ УЧЕТА СЕРВИСНОГО ОБСЛУЖИВАНИЯ АВТОМОБИЛЕЙ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Маркетинговые исследования рынка образовательных услуг</dc:title>
  <dc:subject/>
  <dc:creator>Сидякина Анастасия Алексеевна</dc:creator>
  <cp:keywords/>
  <dc:description/>
  <cp:lastModifiedBy>ivanessco</cp:lastModifiedBy>
  <cp:revision>118</cp:revision>
  <dcterms:created xsi:type="dcterms:W3CDTF">2023-01-30T07:02:12Z</dcterms:created>
  <dcterms:modified xsi:type="dcterms:W3CDTF">2026-06-22T00:56:36Z</dcterms:modified>
  <cp:category/>
  <dc:identifier/>
  <cp:contentStatus/>
  <dc:language/>
  <cp:version/>
</cp:coreProperties>
</file>